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Score</c:v>
                </c:pt>
              </c:strCache>
            </c:strRef>
          </c:tx>
          <c:spPr>
            <a:solidFill>
              <a:srgbClr val="1C254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25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2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CatBoost</c:v>
                  </c:pt>
                  <c:pt idx="2">
                    <c:v>LightGBM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0.853</c:v>
                </c:pt>
                <c:pt idx="1">
                  <c:v>0.858</c:v>
                </c:pt>
                <c:pt idx="2">
                  <c:v>0.947</c:v>
                </c:pt>
                <c:pt idx="3">
                  <c:v>0.977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914400"/>
            <a:ext cx="3566160" cy="3566160"/>
          </a:xfrm>
          <a:prstGeom prst="ellipse">
            <a:avLst/>
          </a:prstGeom>
          <a:solidFill>
            <a:srgbClr val="0B132B"/>
          </a:solidFill>
          <a:ln w="15875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5640" y="-228600"/>
            <a:ext cx="2194560" cy="2194560"/>
          </a:xfrm>
          <a:prstGeom prst="ellipse">
            <a:avLst/>
          </a:prstGeom>
          <a:ln w="9525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 Detection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on Highly Imbalanced Transaction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3977640"/>
            <a:ext cx="1463040" cy="0"/>
          </a:xfrm>
          <a:prstGeom prst="line">
            <a:avLst/>
          </a:prstGeom>
          <a:noFill/>
          <a:ln w="3175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97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284,807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analyzed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4297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 AUC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(XGBoost)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0" y="4297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&amp; evaluated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Tiwari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6291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XGBoost  ·  LightGBM  ·  CatBoost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Fraud Detection Is Hard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costs banks and customers billions every year. The core challenge isn't building a model — it's building one that works when fraud is extremely rare and disguised among millions of legitimate transactions.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334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0.17% of transactions are fraudulent — accuracy alone is a misleading metric.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935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PCA-transformed features (V1–V28) hide raw details, so patterns must be learned, not assumed.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46304" cy="14630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537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false negatives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fraud directly costs money; missed legitimate flags hurt customer experience.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0" y="1417320"/>
            <a:ext cx="4297680" cy="4754880"/>
          </a:xfrm>
          <a:prstGeom prst="roundRect">
            <a:avLst>
              <a:gd name="adj" fmla="val 2553"/>
            </a:avLst>
          </a:prstGeom>
          <a:solidFill>
            <a:srgbClr val="0B132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0" y="3182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680960" y="3639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cases (0.17%)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0" y="42153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80960" y="46725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(incl. Time &amp; Amount)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0" y="52486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hrs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680960" y="5705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of transaction data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Severely Imbalanced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3637944"/>
          </a:xfrm>
          <a:prstGeom prst="roundRect">
            <a:avLst>
              <a:gd name="adj" fmla="val 251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ages/class_im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120640" cy="3272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1924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distribution: Not Fraud (0) vs Fraud (1)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55448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integrity</a:t>
            </a:r>
            <a:endParaRPr lang="en-US" sz="1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across 284,807 rows and 31 columns — confirmed before any modeling began.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imbalance problem</a:t>
            </a:r>
            <a:endParaRPr lang="en-US" sz="1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492 of 284,807 transactions are fraud — a 1:578 ratio that rules out plain accuracy as a metric.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time-based behavior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are spread more evenly across time, including unusual off-peak hours.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•  ML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 &amp;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0" y="1417320"/>
            <a:ext cx="4572000" cy="408743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ages/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00200"/>
            <a:ext cx="4206240" cy="3721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564191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across all 31 features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Time into Hour buckets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raw seconds into hourly windows to reveal transaction-volume and amount trends across the day.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PCA features mostly independent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V1–V28 show little correlation with each other, confirming they are pre-processed, decorrelated PCA components.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Spotted Amount-linked features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and V20 trend positively with Amount; V1, V2 and V5 trend inversely — useful signal for modeling.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•  ML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Predicts Fraud Best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3958811"/>
          </a:xfrm>
          <a:prstGeom prst="roundRect">
            <a:avLst>
              <a:gd name="adj" fmla="val 23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ages/rf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5212080" cy="3593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513291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 ranking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signals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201168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0116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V17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201168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20116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201168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20116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V14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006840" y="201168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C2541"/>
          </a:solidFill>
          <a:ln/>
        </p:spPr>
      </p:sp>
      <p:sp>
        <p:nvSpPr>
          <p:cNvPr id="15" name="Text 12"/>
          <p:cNvSpPr/>
          <p:nvPr/>
        </p:nvSpPr>
        <p:spPr>
          <a:xfrm>
            <a:off x="9006840" y="20116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875520" y="201168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C2541"/>
          </a:solidFill>
          <a:ln/>
        </p:spPr>
      </p:sp>
      <p:sp>
        <p:nvSpPr>
          <p:cNvPr id="17" name="Text 14"/>
          <p:cNvSpPr/>
          <p:nvPr/>
        </p:nvSpPr>
        <p:spPr>
          <a:xfrm>
            <a:off x="9875520" y="20116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744200" y="201168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C2541"/>
          </a:solidFill>
          <a:ln/>
        </p:spPr>
      </p:sp>
      <p:sp>
        <p:nvSpPr>
          <p:cNvPr id="19" name="Text 16"/>
          <p:cNvSpPr/>
          <p:nvPr/>
        </p:nvSpPr>
        <p:spPr>
          <a:xfrm>
            <a:off x="10744200" y="20116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V16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28346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all four models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V17, V12 and V14 consistently ranked as the strongest predictors of fraud across Random Forest, CatBoost, XGBoost and LightGBM.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feature selection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plots showed V4, V11, V12, V14 and V18 have clearly separated distributions between fraud and non-fraud classes.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predictors retained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Amount and V1–V28 were all fed into the models; tree-based methods naturally down-weight the weak ones.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•  ML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One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split into train, validation and test sets. Each model was trained on the same predictors and evaluated using ROC-AUC — the right metric for a highly imbalanced classification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DECISION TREES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ensemble model; trained with Gini criterion, 100 estimators.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93008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75888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75888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75888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feature interactions well; trained for 500 boosting iterations.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37376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0256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0256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0256" y="31089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 for speed; tuned with early stopping on AUC.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81744" y="21031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64624" y="22860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9564624" y="2286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64624" y="2743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64624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64624" y="35204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performer; validated with early stopping across 240+ rounds.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•  ML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the held-out test set (higher is better)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818120" y="1417320"/>
            <a:ext cx="3840480" cy="4572000"/>
          </a:xfrm>
          <a:prstGeom prst="roundRect">
            <a:avLst>
              <a:gd name="adj" fmla="val 2857"/>
            </a:avLst>
          </a:prstGeom>
          <a:solidFill>
            <a:srgbClr val="0B132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3816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97.7%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138160" y="2926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achieved with XGBoost — a 12-point lift over the Random Forest baseline.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3977640"/>
            <a:ext cx="3200400" cy="0"/>
          </a:xfrm>
          <a:prstGeom prst="line">
            <a:avLst/>
          </a:prstGeom>
          <a:noFill/>
          <a:ln w="12700">
            <a:solidFill>
              <a:srgbClr val="1C25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42062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won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+ validation-based tuning let it generalize best to unseen test transactions.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•  ML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Real Fraud Catch-Rate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29000" cy="383475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ages/rf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00200"/>
            <a:ext cx="3108960" cy="3148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86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069080" y="1463040"/>
            <a:ext cx="3429000" cy="383475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images/catboost_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600200"/>
            <a:ext cx="3108960" cy="31489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69080" y="4886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26680" y="1554480"/>
            <a:ext cx="3931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ROC-AUC over accuracy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fraud at just 0.17% of records, a model predicting “not fraud” every time would score 99.8% accuracy — but catch zero fraud. AUC measures true separation between classes.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validated the trade-off</a:t>
            </a:r>
            <a:endParaRPr lang="en-US" sz="1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model's predictions were cross-checked against actual labels to balance catching fraud against false alarms on genuine customers.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high-AUC model like XGBoost can flag suspicious transactions for review while keeping false alarms on real customers low.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 •  ML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 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Production-Ready Fraud Signal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284K+ transactions end-to-end — handled extreme class imbalance, engineered time-based features, and benchmarked four machine learning models. XGBoost delivered the strongest result at 97.7% ROC-AUC, making it the most reliable choice for flagging fraudulent transactions in production.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519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4251960"/>
            <a:ext cx="1938528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2519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425196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251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3419856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54880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4528" y="4754880"/>
            <a:ext cx="2185416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47548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2432304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5780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6976" y="5257800"/>
            <a:ext cx="2432304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525780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7607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760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30752" y="5760720"/>
            <a:ext cx="2185416" cy="384048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 w="9525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576072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12801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0F1B3D"/>
          </a:solidFill>
          <a:ln w="12700">
            <a:solidFill>
              <a:srgbClr val="1C25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97.7%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54964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(XGBoost)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49640" y="25603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5496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processed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4964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54964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benchmarked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49640" y="4480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549640" y="4983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Tiwari  |  ayusharies1o@gmail.com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- Predictive Models</dc:title>
  <dc:subject>PptxGenJS Presentation</dc:subject>
  <dc:creator>Ayush Tiwari</dc:creator>
  <cp:lastModifiedBy>Ayush Tiwari</cp:lastModifiedBy>
  <cp:revision>1</cp:revision>
  <dcterms:created xsi:type="dcterms:W3CDTF">2026-06-19T08:02:35Z</dcterms:created>
  <dcterms:modified xsi:type="dcterms:W3CDTF">2026-06-19T08:02:35Z</dcterms:modified>
</cp:coreProperties>
</file>